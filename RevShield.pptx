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RevShield is a free, transparent, open-source website security, privacy, tracker, cookie, and threat-intelligence analysis platform with continuous local browser protection. Tagline: Understand what happens behind every website.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website can contain trackers, advertising networks, third-party cookies, fingerprinting vectors, weak security configurations, insecure redirects, or characteristics associated with phishing. Understanding these normally requires multiple technical tools and cybersecurity knowledge.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RevShield allows a user to enter a website URL and performs a multi-layer security and privacy analysis. It brings website security auditing, privacy analysis, threat detection, and browser protection into one platform.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Workflow: 1) User enters a website URL. 2) RevShield securely validates the URL. 3) The backend analyzes the website. 4) Security, privacy, cookie, redirect, and threat-related information is collected. 5) Results are presented in an understandable way. 6) The browser extension can provide continuous local protection by blocking trackers and ads.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TLS: certificate chain validity, certificate expiration, protocol version, cipher suites. Security headers: CSP, HSTS, X-Frame-Options, X-Content-Type-Options, Referrer-Policy, Permissions-Policy, with educational explanations and impact ratings. Redirect tracing: multi-hop HTTP status analysis and protocol downgrade detection. Because RevShield accepts arbitrary user-supplied URLs it includes SSRF protection: only HTTP/HTTPS, DNS resolution before dispatch, blocking of loopback, private, link-local/cloud metadata, multicast and internal hostnames, 5 MB response limit, 8 second connection/read timeout, maximum 5 redirects.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Privacy and tracker analysis covers tracking scripts, advertising networks, session replay tools, and canvas fingerprinting vectors. Cookie and storage analysis covers first-party vs third-party cookies and the Secure, HttpOnly and SameSite attributes; sensitive cookie values are not exposed. The machine learning component performs lexical and structural phishing classification with transparent factor attribution, using Scikit-learn.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browser extension is a Manifest V3 extension that uses DeclarativeNetRequest to block trackers and ads locally. It does not transmit browsing history.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Monorepo: apps/web (React + TypeScript + Vite + Tailwind CSS), apps/api (FastAPI + SQLAlchemy + Celery + Scikit-Learn), apps/extension (Manifest V3), packages/shared-types, shared-utils, rule-engine, and docker/. Languages: Python, TypeScript, JavaScript. Data/infra: PostgreSQL, Redis, Docker, Docker Compose. Testing: Pytest.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Differentiators: combines multiple website security and privacy checks in one platform; interpretable ML-based phishing classification instead of a black-box result; local browser protection through the extension; SSRF protections for safer arbitrary URL analysis; free and open-source with no account required.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RevShield makes website security and privacy analysis more accessible, transparent, and actionable.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34340" y="1211580"/>
            <a:ext cx="685800" cy="68580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790" y="1383030"/>
            <a:ext cx="342900" cy="3429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2103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WEBSITE SECURITY  ·  PRIVACY  ·  THREAT INTELLIGENCE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23774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RevShield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29184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what happens behind every website.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457200" y="4206240"/>
            <a:ext cx="685800" cy="292608"/>
          </a:xfrm>
          <a:prstGeom prst="roundRect">
            <a:avLst>
              <a:gd name="adj" fmla="val 50000"/>
            </a:avLst>
          </a:prstGeom>
          <a:solidFill>
            <a:srgbClr val="12324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4206240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Free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1234440" y="420624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12324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234440" y="420624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Open-source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23160" y="4206240"/>
            <a:ext cx="1600200" cy="292608"/>
          </a:xfrm>
          <a:prstGeom prst="roundRect">
            <a:avLst>
              <a:gd name="adj" fmla="val 50000"/>
            </a:avLst>
          </a:prstGeom>
          <a:solidFill>
            <a:srgbClr val="12324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423160" y="420624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account required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120640" y="1005840"/>
            <a:ext cx="3566160" cy="3200400"/>
          </a:xfrm>
          <a:prstGeom prst="roundRect">
            <a:avLst>
              <a:gd name="adj" fmla="val 2857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303520" y="117043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11A2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486400" y="1170432"/>
            <a:ext cx="100584" cy="10058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111A2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0" y="1170432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111A2E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03520" y="1508760"/>
            <a:ext cx="3200400" cy="365760"/>
          </a:xfrm>
          <a:prstGeom prst="roundRect">
            <a:avLst>
              <a:gd name="adj" fmla="val 15000"/>
            </a:avLst>
          </a:prstGeom>
          <a:solidFill>
            <a:srgbClr val="0A0F1C"/>
          </a:solidFill>
          <a:ln w="12700">
            <a:solidFill>
              <a:srgbClr val="22D3EE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2392" y="1618488"/>
            <a:ext cx="146304" cy="14630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669280" y="15087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a website URL</a:t>
            </a:r>
            <a:endParaRPr lang="en-US" sz="1050" dirty="0"/>
          </a:p>
        </p:txBody>
      </p:sp>
      <p:sp>
        <p:nvSpPr>
          <p:cNvPr id="20" name="Text 16"/>
          <p:cNvSpPr txBox="1"/>
          <p:nvPr/>
        </p:nvSpPr>
        <p:spPr>
          <a:xfrm>
            <a:off x="5303520" y="20848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ANALYSIS LAYERS</a:t>
            </a:r>
            <a:endParaRPr lang="en-US" sz="850" dirty="0"/>
          </a:p>
        </p:txBody>
      </p:sp>
      <p:sp>
        <p:nvSpPr>
          <p:cNvPr id="21" name="Shape 17"/>
          <p:cNvSpPr/>
          <p:nvPr/>
        </p:nvSpPr>
        <p:spPr>
          <a:xfrm>
            <a:off x="5321808" y="245059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5532120" y="237744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TLS / Transport Security</a:t>
            </a:r>
            <a:endParaRPr lang="en-US" sz="1050" dirty="0"/>
          </a:p>
        </p:txBody>
      </p:sp>
      <p:sp>
        <p:nvSpPr>
          <p:cNvPr id="23" name="Shape 19"/>
          <p:cNvSpPr/>
          <p:nvPr/>
        </p:nvSpPr>
        <p:spPr>
          <a:xfrm>
            <a:off x="5321808" y="2743200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532120" y="2670048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Security Headers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5321808" y="3035808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5532120" y="2962656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Trackers &amp; Fingerprinting</a:t>
            </a:r>
            <a:endParaRPr lang="en-US" sz="1050" dirty="0"/>
          </a:p>
        </p:txBody>
      </p:sp>
      <p:sp>
        <p:nvSpPr>
          <p:cNvPr id="27" name="Shape 23"/>
          <p:cNvSpPr/>
          <p:nvPr/>
        </p:nvSpPr>
        <p:spPr>
          <a:xfrm>
            <a:off x="5321808" y="3328416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Text 24"/>
          <p:cNvSpPr txBox="1"/>
          <p:nvPr/>
        </p:nvSpPr>
        <p:spPr>
          <a:xfrm>
            <a:off x="5532120" y="3255264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Cookies &amp; Storage</a:t>
            </a:r>
            <a:endParaRPr lang="en-US" sz="1050" dirty="0"/>
          </a:p>
        </p:txBody>
      </p:sp>
      <p:sp>
        <p:nvSpPr>
          <p:cNvPr id="29" name="Shape 25"/>
          <p:cNvSpPr/>
          <p:nvPr/>
        </p:nvSpPr>
        <p:spPr>
          <a:xfrm>
            <a:off x="5321808" y="3621024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532120" y="3547872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Redirect Tracing</a:t>
            </a:r>
            <a:endParaRPr lang="en-US" sz="1050" dirty="0"/>
          </a:p>
        </p:txBody>
      </p:sp>
      <p:sp>
        <p:nvSpPr>
          <p:cNvPr id="31" name="Shape 27"/>
          <p:cNvSpPr/>
          <p:nvPr/>
        </p:nvSpPr>
        <p:spPr>
          <a:xfrm>
            <a:off x="5321808" y="3913632"/>
            <a:ext cx="91440" cy="91440"/>
          </a:xfrm>
          <a:prstGeom prst="ellipse">
            <a:avLst/>
          </a:prstGeom>
          <a:solidFill>
            <a:srgbClr val="22D3EE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2" name="Text 28"/>
          <p:cNvSpPr txBox="1"/>
          <p:nvPr/>
        </p:nvSpPr>
        <p:spPr>
          <a:xfrm>
            <a:off x="5532120" y="3840480"/>
            <a:ext cx="2926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ML Phishing Detection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·  THE PROBLEM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behavior is hard to see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REVSHIELD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10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3108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often cannot easily understand what happens behind a website they visit.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6060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it normally requires multiple technical tools and cybersecurity knowledge.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840480" y="1371600"/>
            <a:ext cx="2331720" cy="68580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005072" y="1531620"/>
            <a:ext cx="365760" cy="36576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6512" y="1623060"/>
            <a:ext cx="182880" cy="18288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4498848" y="14173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355080" y="1371600"/>
            <a:ext cx="2331720" cy="68580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519672" y="1531620"/>
            <a:ext cx="365760" cy="36576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2" y="1623060"/>
            <a:ext cx="182880" cy="18288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7013448" y="141732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networks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3840480" y="2194560"/>
            <a:ext cx="2331720" cy="68580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005072" y="2354580"/>
            <a:ext cx="365760" cy="36576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512" y="2446020"/>
            <a:ext cx="182880" cy="18288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498848" y="22402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cookies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355080" y="2194560"/>
            <a:ext cx="2331720" cy="68580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519672" y="2354580"/>
            <a:ext cx="365760" cy="36576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1112" y="2446020"/>
            <a:ext cx="182880" cy="182880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013448" y="224028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Fingerprinting vectors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3840480" y="3017520"/>
            <a:ext cx="2331720" cy="68580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005072" y="3177540"/>
            <a:ext cx="365760" cy="36576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6512" y="3268980"/>
            <a:ext cx="182880" cy="1828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498848" y="30632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security configurations</a:t>
            </a:r>
            <a:endParaRPr lang="en-US" sz="1150" dirty="0"/>
          </a:p>
        </p:txBody>
      </p:sp>
      <p:sp>
        <p:nvSpPr>
          <p:cNvPr id="28" name="Shape 21"/>
          <p:cNvSpPr/>
          <p:nvPr/>
        </p:nvSpPr>
        <p:spPr>
          <a:xfrm>
            <a:off x="6355080" y="3017520"/>
            <a:ext cx="2331720" cy="68580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519672" y="3177540"/>
            <a:ext cx="365760" cy="36576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1112" y="3268980"/>
            <a:ext cx="182880" cy="18288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013448" y="306324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Insecure redirects</a:t>
            </a:r>
            <a:endParaRPr lang="en-US" sz="1150" dirty="0"/>
          </a:p>
        </p:txBody>
      </p:sp>
      <p:sp>
        <p:nvSpPr>
          <p:cNvPr id="32" name="Shape 24"/>
          <p:cNvSpPr/>
          <p:nvPr/>
        </p:nvSpPr>
        <p:spPr>
          <a:xfrm>
            <a:off x="3840480" y="3840480"/>
            <a:ext cx="2331720" cy="68580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3" name="Shape 25"/>
          <p:cNvSpPr/>
          <p:nvPr/>
        </p:nvSpPr>
        <p:spPr>
          <a:xfrm>
            <a:off x="4005072" y="4000500"/>
            <a:ext cx="365760" cy="36576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96512" y="4091940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4498848" y="38862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Characteristics associated with phishing</a:t>
            </a:r>
            <a:endParaRPr lang="en-US" sz="1150" dirty="0"/>
          </a:p>
        </p:txBody>
      </p:sp>
      <p:sp>
        <p:nvSpPr>
          <p:cNvPr id="36" name="Shape 27"/>
          <p:cNvSpPr/>
          <p:nvPr/>
        </p:nvSpPr>
        <p:spPr>
          <a:xfrm>
            <a:off x="6355080" y="3840480"/>
            <a:ext cx="2331720" cy="685800"/>
          </a:xfrm>
          <a:prstGeom prst="roundRect">
            <a:avLst>
              <a:gd name="adj" fmla="val 13333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6519672" y="4000500"/>
            <a:ext cx="365760" cy="365760"/>
          </a:xfrm>
          <a:prstGeom prst="ellipse">
            <a:avLst/>
          </a:prstGeom>
          <a:solidFill>
            <a:srgbClr val="0A0F1C"/>
          </a:solidFill>
          <a:ln w="6350">
            <a:solidFill>
              <a:srgbClr val="0A0F1C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1112" y="4091940"/>
            <a:ext cx="182880" cy="18288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7013448" y="3886200"/>
            <a:ext cx="1600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tools and security expertise needed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·  OUR SOLUTION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four capabilities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REVSHIELD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10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41732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a URL. Get a multi-layer security and privacy analysis.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3774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RevShield brings website security auditing, privacy analysis, threat detection, and browser protection into one platform.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166360" y="1714500"/>
            <a:ext cx="1257300" cy="1120140"/>
          </a:xfrm>
          <a:prstGeom prst="line">
            <a:avLst/>
          </a:prstGeom>
          <a:noFill/>
          <a:ln w="19050">
            <a:solidFill>
              <a:srgbClr val="1E5A7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V="1">
            <a:off x="6423660" y="1714500"/>
            <a:ext cx="1257300" cy="1120140"/>
          </a:xfrm>
          <a:prstGeom prst="line">
            <a:avLst/>
          </a:prstGeom>
          <a:noFill/>
          <a:ln w="19050">
            <a:solidFill>
              <a:srgbClr val="1E5A7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V="1">
            <a:off x="5166360" y="2834640"/>
            <a:ext cx="1257300" cy="1120140"/>
          </a:xfrm>
          <a:prstGeom prst="line">
            <a:avLst/>
          </a:prstGeom>
          <a:noFill/>
          <a:ln w="19050">
            <a:solidFill>
              <a:srgbClr val="1E5A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23660" y="2834640"/>
            <a:ext cx="1257300" cy="1120140"/>
          </a:xfrm>
          <a:prstGeom prst="line">
            <a:avLst/>
          </a:prstGeom>
          <a:noFill/>
          <a:ln w="19050">
            <a:solidFill>
              <a:srgbClr val="1E5A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83580" y="2194560"/>
            <a:ext cx="1280160" cy="1280160"/>
          </a:xfrm>
          <a:prstGeom prst="ellipse">
            <a:avLst/>
          </a:prstGeom>
          <a:solidFill>
            <a:srgbClr val="12324A"/>
          </a:solidFill>
          <a:ln w="19050">
            <a:solidFill>
              <a:srgbClr val="22D3EE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0780" y="2450592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783580" y="28803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RevShield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160520" y="137160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334256" y="1522476"/>
            <a:ext cx="384048" cy="384048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0268" y="1618488"/>
            <a:ext cx="192024" cy="192024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4818888" y="14630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auditing</a:t>
            </a:r>
            <a:endParaRPr lang="en-US" sz="1200" dirty="0"/>
          </a:p>
        </p:txBody>
      </p:sp>
      <p:sp>
        <p:nvSpPr>
          <p:cNvPr id="19" name="Text 15"/>
          <p:cNvSpPr txBox="1"/>
          <p:nvPr/>
        </p:nvSpPr>
        <p:spPr>
          <a:xfrm>
            <a:off x="4818888" y="17373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· headers · redirects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6675120" y="137160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848856" y="1522476"/>
            <a:ext cx="384048" cy="384048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4868" y="1618488"/>
            <a:ext cx="192024" cy="19202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7333488" y="14630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analysis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7333488" y="173736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Trackers · cookies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160520" y="361188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4334256" y="3762756"/>
            <a:ext cx="384048" cy="384048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0268" y="3858768"/>
            <a:ext cx="192024" cy="19202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4818888" y="37033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detection</a:t>
            </a:r>
            <a:endParaRPr lang="en-US" sz="1200" dirty="0"/>
          </a:p>
        </p:txBody>
      </p:sp>
      <p:sp>
        <p:nvSpPr>
          <p:cNvPr id="29" name="Text 23"/>
          <p:cNvSpPr txBox="1"/>
          <p:nvPr/>
        </p:nvSpPr>
        <p:spPr>
          <a:xfrm>
            <a:off x="4818888" y="39776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classification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6675120" y="3611880"/>
            <a:ext cx="2011680" cy="685800"/>
          </a:xfrm>
          <a:prstGeom prst="roundRect">
            <a:avLst>
              <a:gd name="adj" fmla="val 1333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848856" y="3762756"/>
            <a:ext cx="384048" cy="384048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44868" y="3858768"/>
            <a:ext cx="192024" cy="192024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7333488" y="370332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protection</a:t>
            </a:r>
            <a:endParaRPr lang="en-US" sz="1200" dirty="0"/>
          </a:p>
        </p:txBody>
      </p:sp>
      <p:sp>
        <p:nvSpPr>
          <p:cNvPr id="34" name="Text 27"/>
          <p:cNvSpPr txBox="1"/>
          <p:nvPr/>
        </p:nvSpPr>
        <p:spPr>
          <a:xfrm>
            <a:off x="7333488" y="397764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V3 extension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·  WORKFLOW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RevShield works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REVSHIELD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1371600" cy="2103120"/>
          </a:xfrm>
          <a:prstGeom prst="roundRect">
            <a:avLst>
              <a:gd name="adj" fmla="val 6667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4813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143000" y="1856232"/>
            <a:ext cx="457200" cy="45720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300" y="1970532"/>
            <a:ext cx="228600" cy="2286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7724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Input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795528" y="2761488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 website URL</a:t>
            </a:r>
            <a:endParaRPr lang="en-US" sz="95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976" y="2331720"/>
            <a:ext cx="155448" cy="1554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286000" y="1371600"/>
            <a:ext cx="1371600" cy="2103120"/>
          </a:xfrm>
          <a:prstGeom prst="roundRect">
            <a:avLst>
              <a:gd name="adj" fmla="val 6667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2423160" y="14813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2743200" y="1856232"/>
            <a:ext cx="457200" cy="45720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7500" y="1970532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37744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Validation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2395728" y="2761488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RevShield securely validates the URL</a:t>
            </a:r>
            <a:endParaRPr lang="en-US" sz="9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94176" y="2331720"/>
            <a:ext cx="155448" cy="155448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886200" y="1371600"/>
            <a:ext cx="1371600" cy="2103120"/>
          </a:xfrm>
          <a:prstGeom prst="roundRect">
            <a:avLst>
              <a:gd name="adj" fmla="val 6667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4023360" y="14813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4343400" y="1856232"/>
            <a:ext cx="457200" cy="45720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57700" y="1970532"/>
            <a:ext cx="228600" cy="22860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397764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Analysis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3995928" y="2761488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analyzes the website</a:t>
            </a:r>
            <a:endParaRPr lang="en-US" sz="95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94376" y="2331720"/>
            <a:ext cx="155448" cy="155448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5486400" y="1371600"/>
            <a:ext cx="1371600" cy="2103120"/>
          </a:xfrm>
          <a:prstGeom prst="roundRect">
            <a:avLst>
              <a:gd name="adj" fmla="val 6667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8" name="Text 20"/>
          <p:cNvSpPr txBox="1"/>
          <p:nvPr/>
        </p:nvSpPr>
        <p:spPr>
          <a:xfrm>
            <a:off x="5623560" y="14813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9" name="Shape 21"/>
          <p:cNvSpPr/>
          <p:nvPr/>
        </p:nvSpPr>
        <p:spPr>
          <a:xfrm>
            <a:off x="5943600" y="1856232"/>
            <a:ext cx="457200" cy="45720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57900" y="1970532"/>
            <a:ext cx="228600" cy="22860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557784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Multi-layer Checks</a:t>
            </a:r>
            <a:endParaRPr lang="en-US" sz="1200" dirty="0"/>
          </a:p>
        </p:txBody>
      </p:sp>
      <p:sp>
        <p:nvSpPr>
          <p:cNvPr id="32" name="Text 23"/>
          <p:cNvSpPr txBox="1"/>
          <p:nvPr/>
        </p:nvSpPr>
        <p:spPr>
          <a:xfrm>
            <a:off x="5596128" y="2761488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privacy, cookie, redirect and threat-related information is collected</a:t>
            </a:r>
            <a:endParaRPr lang="en-US" sz="95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94576" y="2331720"/>
            <a:ext cx="155448" cy="155448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7086600" y="1371600"/>
            <a:ext cx="1371600" cy="2103120"/>
          </a:xfrm>
          <a:prstGeom prst="roundRect">
            <a:avLst>
              <a:gd name="adj" fmla="val 6667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7223760" y="1481328"/>
            <a:ext cx="548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7543800" y="1856232"/>
            <a:ext cx="457200" cy="45720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58100" y="1970532"/>
            <a:ext cx="228600" cy="228600"/>
          </a:xfrm>
          <a:prstGeom prst="rect">
            <a:avLst/>
          </a:prstGeom>
        </p:spPr>
      </p:pic>
      <p:sp>
        <p:nvSpPr>
          <p:cNvPr id="38" name="Text 27"/>
          <p:cNvSpPr txBox="1"/>
          <p:nvPr/>
        </p:nvSpPr>
        <p:spPr>
          <a:xfrm>
            <a:off x="7178040" y="246888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9" name="Text 28"/>
          <p:cNvSpPr txBox="1"/>
          <p:nvPr/>
        </p:nvSpPr>
        <p:spPr>
          <a:xfrm>
            <a:off x="7196328" y="2761488"/>
            <a:ext cx="11521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the user in an understandable way</a:t>
            </a:r>
            <a:endParaRPr lang="en-US" sz="950" dirty="0"/>
          </a:p>
        </p:txBody>
      </p:sp>
      <p:sp>
        <p:nvSpPr>
          <p:cNvPr id="40" name="Shape 29"/>
          <p:cNvSpPr/>
          <p:nvPr/>
        </p:nvSpPr>
        <p:spPr>
          <a:xfrm>
            <a:off x="685800" y="3749040"/>
            <a:ext cx="7772400" cy="777240"/>
          </a:xfrm>
          <a:prstGeom prst="roundRect">
            <a:avLst>
              <a:gd name="adj" fmla="val 11765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914400" y="3909060"/>
            <a:ext cx="457200" cy="457200"/>
          </a:xfrm>
          <a:prstGeom prst="ellipse">
            <a:avLst/>
          </a:prstGeom>
          <a:solidFill>
            <a:srgbClr val="0A0F1C"/>
          </a:solidFill>
          <a:ln w="6350">
            <a:solidFill>
              <a:srgbClr val="0A0F1C"/>
            </a:solidFill>
            <a:prstDash val="solid"/>
          </a:ln>
        </p:spPr>
      </p:sp>
      <p:pic>
        <p:nvPicPr>
          <p:cNvPr id="42" name="Image 9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8700" y="4023360"/>
            <a:ext cx="228600" cy="228600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1554480" y="3840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 06  ·  BROWSER EXTENSION</a:t>
            </a:r>
            <a:endParaRPr lang="en-US" sz="900" dirty="0"/>
          </a:p>
        </p:txBody>
      </p:sp>
      <p:sp>
        <p:nvSpPr>
          <p:cNvPr id="44" name="Text 32"/>
          <p:cNvSpPr txBox="1"/>
          <p:nvPr/>
        </p:nvSpPr>
        <p:spPr>
          <a:xfrm>
            <a:off x="1554480" y="406908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continuous local protection by blocking trackers and ads.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·  CORE SECURITY ANALYSIS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Inspecting transport, headers, and redirects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REVSHIELD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" y="1453896"/>
            <a:ext cx="384048" cy="384048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" y="1549908"/>
            <a:ext cx="192024" cy="19202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145389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/ Transport Security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3246120" y="128016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419856" y="1453896"/>
            <a:ext cx="384048" cy="384048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15868" y="1549908"/>
            <a:ext cx="192024" cy="19202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931920" y="145389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Headers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035040" y="1280160"/>
            <a:ext cx="2651760" cy="2377440"/>
          </a:xfrm>
          <a:prstGeom prst="roundRect">
            <a:avLst>
              <a:gd name="adj" fmla="val 3846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08776" y="1453896"/>
            <a:ext cx="384048" cy="384048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4788" y="1549908"/>
            <a:ext cx="192024" cy="19202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720840" y="1453896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Tracing</a:t>
            </a:r>
            <a:endParaRPr lang="en-US" sz="1350" dirty="0"/>
          </a:p>
        </p:txBody>
      </p:sp>
      <p:sp>
        <p:nvSpPr>
          <p:cNvPr id="18" name="Text 13"/>
          <p:cNvSpPr txBox="1"/>
          <p:nvPr/>
        </p:nvSpPr>
        <p:spPr>
          <a:xfrm>
            <a:off x="685800" y="2057400"/>
            <a:ext cx="2286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chain validity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Certificate expiration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version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2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Cipher suites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3474720" y="201168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Content-Security-Policy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HSTS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X-Frame-Options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X-Content-Type-Options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Referrer-Policy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Permissions-Policy</a:t>
            </a:r>
            <a:endParaRPr lang="en-US" sz="950" dirty="0"/>
          </a:p>
        </p:txBody>
      </p:sp>
      <p:sp>
        <p:nvSpPr>
          <p:cNvPr id="20" name="Text 15"/>
          <p:cNvSpPr txBox="1"/>
          <p:nvPr/>
        </p:nvSpPr>
        <p:spPr>
          <a:xfrm>
            <a:off x="347472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explanations and impact ratings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6263640" y="21031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12324A"/>
          </a:solidFill>
          <a:ln w="9525">
            <a:solidFill>
              <a:srgbClr val="22D3EE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6263640" y="21031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</a:t>
            </a:r>
            <a:endParaRPr lang="en-US" sz="10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4" y="2176272"/>
            <a:ext cx="155448" cy="155448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7589520" y="21031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3A2A0E"/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7589520" y="21031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6263640" y="2651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Multi-hop HTTP status analysis</a:t>
            </a:r>
            <a:endParaRPr lang="en-US" sz="12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downgrade detection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57200" y="379476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40080" y="4000500"/>
            <a:ext cx="457200" cy="457200"/>
          </a:xfrm>
          <a:prstGeom prst="ellipse">
            <a:avLst/>
          </a:prstGeom>
          <a:solidFill>
            <a:srgbClr val="0A0F1C"/>
          </a:solidFill>
          <a:ln w="6350">
            <a:solidFill>
              <a:srgbClr val="0A0F1C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0" y="4114800"/>
            <a:ext cx="228600" cy="2286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234440" y="3950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 protection</a:t>
            </a:r>
            <a:endParaRPr lang="en-US" sz="1350" dirty="0"/>
          </a:p>
        </p:txBody>
      </p:sp>
      <p:sp>
        <p:nvSpPr>
          <p:cNvPr id="31" name="Text 24"/>
          <p:cNvSpPr txBox="1"/>
          <p:nvPr/>
        </p:nvSpPr>
        <p:spPr>
          <a:xfrm>
            <a:off x="1234440" y="422452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analysis of arbitrary user-supplied URLs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3108960" y="3904488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HTTP and HTTPS. DNS resolved before request dispatch.</a:t>
            </a:r>
            <a:endParaRPr lang="en-US" sz="9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9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Blocked: loopback, private ranges, link-local / cloud metadata, multicast, internal hostnames.</a:t>
            </a:r>
            <a:endParaRPr lang="en-US" sz="950" dirty="0"/>
          </a:p>
        </p:txBody>
      </p:sp>
      <p:sp>
        <p:nvSpPr>
          <p:cNvPr id="33" name="Text 26"/>
          <p:cNvSpPr txBox="1"/>
          <p:nvPr/>
        </p:nvSpPr>
        <p:spPr>
          <a:xfrm>
            <a:off x="6263640" y="394106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MB</a:t>
            </a:r>
            <a:endParaRPr lang="en-US" sz="1900" dirty="0"/>
          </a:p>
        </p:txBody>
      </p:sp>
      <p:sp>
        <p:nvSpPr>
          <p:cNvPr id="34" name="Text 27"/>
          <p:cNvSpPr txBox="1"/>
          <p:nvPr/>
        </p:nvSpPr>
        <p:spPr>
          <a:xfrm>
            <a:off x="6263640" y="432511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response</a:t>
            </a:r>
            <a:endParaRPr lang="en-US" sz="850" dirty="0"/>
          </a:p>
        </p:txBody>
      </p:sp>
      <p:sp>
        <p:nvSpPr>
          <p:cNvPr id="35" name="Text 28"/>
          <p:cNvSpPr txBox="1"/>
          <p:nvPr/>
        </p:nvSpPr>
        <p:spPr>
          <a:xfrm>
            <a:off x="7068312" y="394106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</a:t>
            </a:r>
            <a:endParaRPr lang="en-US" sz="1900" dirty="0"/>
          </a:p>
        </p:txBody>
      </p:sp>
      <p:sp>
        <p:nvSpPr>
          <p:cNvPr id="36" name="Text 29"/>
          <p:cNvSpPr txBox="1"/>
          <p:nvPr/>
        </p:nvSpPr>
        <p:spPr>
          <a:xfrm>
            <a:off x="7068312" y="432511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</a:t>
            </a:r>
            <a:endParaRPr lang="en-US" sz="850" dirty="0"/>
          </a:p>
        </p:txBody>
      </p:sp>
      <p:sp>
        <p:nvSpPr>
          <p:cNvPr id="37" name="Text 30"/>
          <p:cNvSpPr txBox="1"/>
          <p:nvPr/>
        </p:nvSpPr>
        <p:spPr>
          <a:xfrm>
            <a:off x="7872984" y="394106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900" dirty="0"/>
          </a:p>
        </p:txBody>
      </p:sp>
      <p:sp>
        <p:nvSpPr>
          <p:cNvPr id="38" name="Text 31"/>
          <p:cNvSpPr txBox="1"/>
          <p:nvPr/>
        </p:nvSpPr>
        <p:spPr>
          <a:xfrm>
            <a:off x="7872984" y="4325112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redirects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·  PRIVACY &amp; THREAT INTELLIGENCE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Trackers, cookies, and phishing signals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REVSHIELD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" y="1453896"/>
            <a:ext cx="384048" cy="384048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" y="1549908"/>
            <a:ext cx="192024" cy="19202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43000" y="145389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Tracker Analysis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196596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scripts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Advertising networks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replay tools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 fingerprinting vectors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017520"/>
            <a:ext cx="3383280" cy="1645920"/>
          </a:xfrm>
          <a:prstGeom prst="roundRect">
            <a:avLst>
              <a:gd name="adj" fmla="val 5556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30936" y="3191256"/>
            <a:ext cx="384048" cy="384048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3287268"/>
            <a:ext cx="192024" cy="1920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143000" y="3191256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&amp; Storage Analysis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685800" y="37490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First-party vs third-party cookies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HttpOnly and SameSite attributes</a:t>
            </a:r>
            <a:endParaRPr lang="en-US" sz="12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cookie values are not exposed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023360" y="1280160"/>
            <a:ext cx="4663440" cy="3383280"/>
          </a:xfrm>
          <a:prstGeom prst="roundRect">
            <a:avLst>
              <a:gd name="adj" fmla="val 270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4206240" y="1463040"/>
            <a:ext cx="457200" cy="45720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0540" y="1577340"/>
            <a:ext cx="228600" cy="22860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4800600" y="14813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Threat Detection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4800600" y="176479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Lexical and structural phishing classification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251960" y="2331720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0A0F1C"/>
          </a:solidFill>
          <a:ln w="12700">
            <a:solidFill>
              <a:srgbClr val="1F2C48"/>
            </a:solidFill>
            <a:prstDash val="solid"/>
          </a:ln>
        </p:spPr>
      </p:sp>
      <p:sp>
        <p:nvSpPr>
          <p:cNvPr id="22" name="Text 17"/>
          <p:cNvSpPr txBox="1"/>
          <p:nvPr/>
        </p:nvSpPr>
        <p:spPr>
          <a:xfrm>
            <a:off x="4251960" y="233172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Website URL</a:t>
            </a:r>
            <a:endParaRPr lang="en-US" sz="95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4688" y="2747772"/>
            <a:ext cx="137160" cy="137160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4251960" y="2898648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0A0F1C"/>
          </a:solidFill>
          <a:ln w="12700">
            <a:solidFill>
              <a:srgbClr val="1F2C48"/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4251960" y="2898648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Lexical &amp; structural analysis</a:t>
            </a:r>
            <a:endParaRPr lang="en-US" sz="950" dirty="0"/>
          </a:p>
        </p:txBody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04688" y="3314700"/>
            <a:ext cx="137160" cy="13716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4251960" y="3465576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0A0F1C"/>
          </a:solidFill>
          <a:ln w="12700">
            <a:solidFill>
              <a:srgbClr val="1F2C48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4251960" y="346557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1F5F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Scikit-learn classifier</a:t>
            </a:r>
            <a:endParaRPr lang="en-US" sz="95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4688" y="3881628"/>
            <a:ext cx="137160" cy="13716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4251960" y="4032504"/>
            <a:ext cx="2651760" cy="402336"/>
          </a:xfrm>
          <a:prstGeom prst="roundRect">
            <a:avLst>
              <a:gd name="adj" fmla="val 15909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31" name="Text 23"/>
          <p:cNvSpPr txBox="1"/>
          <p:nvPr/>
        </p:nvSpPr>
        <p:spPr>
          <a:xfrm>
            <a:off x="4251960" y="403250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Classification + factor attribution</a:t>
            </a:r>
            <a:endParaRPr lang="en-US" sz="950" dirty="0"/>
          </a:p>
        </p:txBody>
      </p:sp>
      <p:sp>
        <p:nvSpPr>
          <p:cNvPr id="32" name="Text 24"/>
          <p:cNvSpPr txBox="1"/>
          <p:nvPr/>
        </p:nvSpPr>
        <p:spPr>
          <a:xfrm>
            <a:off x="7178040" y="2331720"/>
            <a:ext cx="1325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Interpretable, not a black box</a:t>
            </a:r>
            <a:endParaRPr lang="en-US" sz="1300" dirty="0"/>
          </a:p>
        </p:txBody>
      </p:sp>
      <p:sp>
        <p:nvSpPr>
          <p:cNvPr id="33" name="Text 25"/>
          <p:cNvSpPr txBox="1"/>
          <p:nvPr/>
        </p:nvSpPr>
        <p:spPr>
          <a:xfrm>
            <a:off x="7178040" y="3200400"/>
            <a:ext cx="1325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transparent factor attribution.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·  BROWSER PROTECTION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local protection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REVSHIELD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572000" cy="3383280"/>
          </a:xfrm>
          <a:prstGeom prst="roundRect">
            <a:avLst>
              <a:gd name="adj" fmla="val 270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44752"/>
            <a:ext cx="100584" cy="10058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11A2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1444752"/>
            <a:ext cx="100584" cy="100584"/>
          </a:xfrm>
          <a:prstGeom prst="ellipse">
            <a:avLst/>
          </a:prstGeom>
          <a:solidFill>
            <a:srgbClr val="94A3B8"/>
          </a:solidFill>
          <a:ln w="12700">
            <a:solidFill>
              <a:srgbClr val="111A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444752"/>
            <a:ext cx="100584" cy="100584"/>
          </a:xfrm>
          <a:prstGeom prst="ellipse">
            <a:avLst/>
          </a:prstGeom>
          <a:solidFill>
            <a:srgbClr val="34D399"/>
          </a:solidFill>
          <a:ln w="12700">
            <a:solidFill>
              <a:srgbClr val="111A2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200400" y="1399032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spc="20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BROWSER EXTENSION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31520" y="1874520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0A0F1C"/>
          </a:solidFill>
          <a:ln w="12700">
            <a:solidFill>
              <a:srgbClr val="1F2C4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5256" y="1993392"/>
            <a:ext cx="384048" cy="384048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" y="2089404"/>
            <a:ext cx="192024" cy="19202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463040" y="187452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V3 browser extension</a:t>
            </a:r>
            <a:endParaRPr lang="en-US" sz="14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0048" y="2569464"/>
            <a:ext cx="146304" cy="146304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731520" y="2788920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0A0F1C"/>
          </a:solidFill>
          <a:ln w="12700">
            <a:solidFill>
              <a:srgbClr val="1F2C48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905256" y="2907792"/>
            <a:ext cx="384048" cy="384048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1268" y="3003804"/>
            <a:ext cx="192024" cy="19202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463040" y="278892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DeclarativeNetRequest</a:t>
            </a:r>
            <a:endParaRPr lang="en-US" sz="140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0048" y="3483864"/>
            <a:ext cx="146304" cy="146304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731520" y="3703320"/>
            <a:ext cx="4023360" cy="621792"/>
          </a:xfrm>
          <a:prstGeom prst="roundRect">
            <a:avLst>
              <a:gd name="adj" fmla="val 11765"/>
            </a:avLst>
          </a:prstGeom>
          <a:solidFill>
            <a:srgbClr val="12324A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905256" y="3822192"/>
            <a:ext cx="384048" cy="384048"/>
          </a:xfrm>
          <a:prstGeom prst="ellipse">
            <a:avLst/>
          </a:prstGeom>
          <a:solidFill>
            <a:srgbClr val="0A0F1C"/>
          </a:solidFill>
          <a:ln w="6350">
            <a:solidFill>
              <a:srgbClr val="0A0F1C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1268" y="3918204"/>
            <a:ext cx="192024" cy="19202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1463040" y="3703320"/>
            <a:ext cx="32004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tracker and ad blocking</a:t>
            </a:r>
            <a:endParaRPr lang="en-US" sz="1400" dirty="0"/>
          </a:p>
        </p:txBody>
      </p:sp>
      <p:sp>
        <p:nvSpPr>
          <p:cNvPr id="25" name="Shape 18"/>
          <p:cNvSpPr/>
          <p:nvPr/>
        </p:nvSpPr>
        <p:spPr>
          <a:xfrm>
            <a:off x="5303520" y="128016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5486400" y="1508760"/>
            <a:ext cx="457200" cy="45720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00700" y="1623060"/>
            <a:ext cx="228600" cy="228600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6126480" y="153619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by design</a:t>
            </a:r>
            <a:endParaRPr lang="en-US" sz="1400" dirty="0"/>
          </a:p>
        </p:txBody>
      </p:sp>
      <p:sp>
        <p:nvSpPr>
          <p:cNvPr id="29" name="Text 21"/>
          <p:cNvSpPr txBox="1"/>
          <p:nvPr/>
        </p:nvSpPr>
        <p:spPr>
          <a:xfrm>
            <a:off x="5532120" y="214884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Trackers and ads are blocked locally. The extension does not transmit browsing history.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5303520" y="3063240"/>
            <a:ext cx="3383280" cy="1600200"/>
          </a:xfrm>
          <a:prstGeom prst="roundRect">
            <a:avLst>
              <a:gd name="adj" fmla="val 5714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1" name="Shape 23"/>
          <p:cNvSpPr/>
          <p:nvPr/>
        </p:nvSpPr>
        <p:spPr>
          <a:xfrm>
            <a:off x="5486400" y="3291840"/>
            <a:ext cx="457200" cy="45720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00700" y="3406140"/>
            <a:ext cx="228600" cy="228600"/>
          </a:xfrm>
          <a:prstGeom prst="rect">
            <a:avLst/>
          </a:prstGeom>
        </p:spPr>
      </p:pic>
      <p:sp>
        <p:nvSpPr>
          <p:cNvPr id="33" name="Text 24"/>
          <p:cNvSpPr txBox="1"/>
          <p:nvPr/>
        </p:nvSpPr>
        <p:spPr>
          <a:xfrm>
            <a:off x="6126480" y="3319272"/>
            <a:ext cx="2423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the platform</a:t>
            </a:r>
            <a:endParaRPr lang="en-US" sz="1400" dirty="0"/>
          </a:p>
        </p:txBody>
      </p:sp>
      <p:sp>
        <p:nvSpPr>
          <p:cNvPr id="34" name="Text 25"/>
          <p:cNvSpPr txBox="1"/>
          <p:nvPr/>
        </p:nvSpPr>
        <p:spPr>
          <a:xfrm>
            <a:off x="5532120" y="393192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Lives in apps/extension alongside the web app and API in the same monorepo.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·  ARCHITECTURE &amp; TECHNOLOGY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and technology stack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REVSHIELD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4297680" cy="3383280"/>
          </a:xfrm>
          <a:prstGeom prst="roundRect">
            <a:avLst>
              <a:gd name="adj" fmla="val 2703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PROJECT ARCHITECTURE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37360"/>
            <a:ext cx="3931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RevShield/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apps/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web/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# React + TypeScript + Vite + Tailwind CSS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api/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  # FastAPI + SQLAlchemy + Celery + Scikit-Learn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extension/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# Manifest V3 browser extension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packages/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shared-types/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shared-utils/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rule-engine/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docker/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37760" y="1280160"/>
            <a:ext cx="3749040" cy="484632"/>
          </a:xfrm>
          <a:prstGeom prst="roundRect">
            <a:avLst>
              <a:gd name="adj" fmla="val 18868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74920" y="1280160"/>
            <a:ext cx="960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LANGUAGES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080760" y="1280160"/>
            <a:ext cx="2514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TypeScript · JavaScript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937760" y="1856232"/>
            <a:ext cx="3749040" cy="484632"/>
          </a:xfrm>
          <a:prstGeom prst="roundRect">
            <a:avLst>
              <a:gd name="adj" fmla="val 18868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74920" y="1856232"/>
            <a:ext cx="960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6080760" y="1856232"/>
            <a:ext cx="2514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· Vite · Tailwind CSS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937760" y="2432304"/>
            <a:ext cx="3749040" cy="484632"/>
          </a:xfrm>
          <a:prstGeom prst="roundRect">
            <a:avLst>
              <a:gd name="adj" fmla="val 18868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74920" y="2432304"/>
            <a:ext cx="960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6080760" y="2432304"/>
            <a:ext cx="2514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SQLAlchemy · Celery · Scikit-learn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37760" y="3008376"/>
            <a:ext cx="3749040" cy="484632"/>
          </a:xfrm>
          <a:prstGeom prst="roundRect">
            <a:avLst>
              <a:gd name="adj" fmla="val 18868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74920" y="3008376"/>
            <a:ext cx="960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/ INFRA</a:t>
            </a:r>
            <a:endParaRPr lang="en-US" sz="850" dirty="0"/>
          </a:p>
        </p:txBody>
      </p:sp>
      <p:sp>
        <p:nvSpPr>
          <p:cNvPr id="20" name="Text 18"/>
          <p:cNvSpPr txBox="1"/>
          <p:nvPr/>
        </p:nvSpPr>
        <p:spPr>
          <a:xfrm>
            <a:off x="6080760" y="3008376"/>
            <a:ext cx="2514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· Redis · Docker · Docker Compose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937760" y="3584448"/>
            <a:ext cx="3749040" cy="484632"/>
          </a:xfrm>
          <a:prstGeom prst="roundRect">
            <a:avLst>
              <a:gd name="adj" fmla="val 18868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74920" y="3584448"/>
            <a:ext cx="960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EXTENSION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080760" y="3584448"/>
            <a:ext cx="2514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 V3 · DeclarativeNetRequest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937760" y="4160520"/>
            <a:ext cx="3749040" cy="484632"/>
          </a:xfrm>
          <a:prstGeom prst="roundRect">
            <a:avLst>
              <a:gd name="adj" fmla="val 18868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074920" y="4160520"/>
            <a:ext cx="96012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TESTING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6080760" y="4160520"/>
            <a:ext cx="25146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·  DIFFERENTIATORS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6692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makes RevShield different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REVSHIELD</a:t>
            </a:r>
            <a:endParaRPr lang="en-US" sz="800" dirty="0"/>
          </a:p>
        </p:txBody>
      </p:sp>
      <p:sp>
        <p:nvSpPr>
          <p:cNvPr id="5" name="Text 3"/>
          <p:cNvSpPr txBox="1"/>
          <p:nvPr/>
        </p:nvSpPr>
        <p:spPr>
          <a:xfrm>
            <a:off x="7772400" y="480060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1499616" cy="2743200"/>
          </a:xfrm>
          <a:prstGeom prst="roundRect">
            <a:avLst>
              <a:gd name="adj" fmla="val 6098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490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932688" y="1965960"/>
            <a:ext cx="548640" cy="54864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9848" y="21031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6928" y="2788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analysis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585216" y="3337560"/>
            <a:ext cx="1243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website security and privacy checks in one platform.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2139696" y="1371600"/>
            <a:ext cx="1499616" cy="2743200"/>
          </a:xfrm>
          <a:prstGeom prst="roundRect">
            <a:avLst>
              <a:gd name="adj" fmla="val 6098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276856" y="1490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2615184" y="1965960"/>
            <a:ext cx="548640" cy="54864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2344" y="210312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249424" y="2788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ML</a:t>
            </a:r>
            <a:endParaRPr lang="en-US" sz="1300" dirty="0"/>
          </a:p>
        </p:txBody>
      </p:sp>
      <p:sp>
        <p:nvSpPr>
          <p:cNvPr id="17" name="Text 13"/>
          <p:cNvSpPr txBox="1"/>
          <p:nvPr/>
        </p:nvSpPr>
        <p:spPr>
          <a:xfrm>
            <a:off x="2267712" y="3337560"/>
            <a:ext cx="1243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Interpretable phishing classification, not only a black-box result.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3822192" y="1371600"/>
            <a:ext cx="1499616" cy="2743200"/>
          </a:xfrm>
          <a:prstGeom prst="roundRect">
            <a:avLst>
              <a:gd name="adj" fmla="val 6098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3959352" y="1490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297680" y="1965960"/>
            <a:ext cx="548640" cy="54864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210312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3931920" y="2788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protection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3950208" y="3337560"/>
            <a:ext cx="1243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extension provides local tracker and ad blocking.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504688" y="1371600"/>
            <a:ext cx="1499616" cy="2743200"/>
          </a:xfrm>
          <a:prstGeom prst="roundRect">
            <a:avLst>
              <a:gd name="adj" fmla="val 6098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641848" y="1490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980176" y="1965960"/>
            <a:ext cx="548640" cy="54864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7336" y="2103120"/>
            <a:ext cx="274320" cy="27432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5614416" y="2788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SSRF-aware design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5632704" y="3337560"/>
            <a:ext cx="1243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Protections for safer analysis of arbitrary URLs.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7187184" y="1371600"/>
            <a:ext cx="1499616" cy="2743200"/>
          </a:xfrm>
          <a:prstGeom prst="roundRect">
            <a:avLst>
              <a:gd name="adj" fmla="val 6098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7324344" y="149047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662672" y="1965960"/>
            <a:ext cx="548640" cy="548640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9832" y="2103120"/>
            <a:ext cx="274320" cy="27432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296912" y="27889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</a:t>
            </a:r>
            <a:endParaRPr lang="en-US" sz="1300" dirty="0"/>
          </a:p>
        </p:txBody>
      </p:sp>
      <p:sp>
        <p:nvSpPr>
          <p:cNvPr id="35" name="Text 28"/>
          <p:cNvSpPr txBox="1"/>
          <p:nvPr/>
        </p:nvSpPr>
        <p:spPr>
          <a:xfrm>
            <a:off x="7315200" y="3337560"/>
            <a:ext cx="124358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use. No account is required.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5029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144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RevShield makes website security and privacy analysis more </a:t>
            </a:r>
            <a:pPr indent="0" marL="0">
              <a:buNone/>
            </a:pPr>
            <a:r>
              <a:rPr lang="en-US" sz="3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accessible, transparent, and actionable.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8803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3063240"/>
            <a:ext cx="402336" cy="402336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3163824"/>
            <a:ext cx="201168" cy="20116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30632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58368" y="3630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to use, and no account is required.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28803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3063240"/>
            <a:ext cx="402336" cy="402336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5304" y="3163824"/>
            <a:ext cx="201168" cy="20116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23360" y="30632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3493008" y="3630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Open-source, with interpretable ML factor attribution.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2880360"/>
            <a:ext cx="2560320" cy="1188720"/>
          </a:xfrm>
          <a:prstGeom prst="roundRect">
            <a:avLst>
              <a:gd name="adj" fmla="val 7692"/>
            </a:avLst>
          </a:prstGeom>
          <a:solidFill>
            <a:srgbClr val="111A2E"/>
          </a:solidFill>
          <a:ln w="9525">
            <a:solidFill>
              <a:srgbClr val="1F2C48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0" y="3063240"/>
            <a:ext cx="402336" cy="402336"/>
          </a:xfrm>
          <a:prstGeom prst="ellipse">
            <a:avLst/>
          </a:prstGeom>
          <a:solidFill>
            <a:srgbClr val="12324A"/>
          </a:solidFill>
          <a:ln w="6350">
            <a:solidFill>
              <a:srgbClr val="12324A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9944" y="316382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58000" y="306324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6327648" y="363016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explanations and impact ratings for security headers.</a:t>
            </a:r>
            <a:endParaRPr lang="en-US" sz="105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4480560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777240" y="4462272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RevShield  —  Understand what happens behind every website.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RevShield</dc:title>
  <dc:subject>PptxGenJS Presentation</dc:subject>
  <dc:creator>PptxGenJS</dc:creator>
  <cp:lastModifiedBy>PptxGenJS</cp:lastModifiedBy>
  <cp:revision>1</cp:revision>
  <dcterms:created xsi:type="dcterms:W3CDTF">2026-09-19T09:32:18Z</dcterms:created>
  <dcterms:modified xsi:type="dcterms:W3CDTF">2026-09-19T09:32:18Z</dcterms:modified>
</cp:coreProperties>
</file>